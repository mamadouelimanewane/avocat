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6400">
                <a:solidFill>
                  <a:srgbClr val="EAB308"/>
                </a:solidFill>
              </a:defRPr>
            </a:pPr>
            <a:r>
              <a:t>LEXPREMIUM PRO v9.1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L'ARSENAL JURIDIQUE SUPRÊME UNIFIÉ</a:t>
            </a:r>
          </a:p>
          <a:p>
            <a:r>
              <a:t>Dominez le Droit des Affaires International &amp; la Deep Tech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5400">
                <a:solidFill>
                  <a:srgbClr val="EAB308"/>
                </a:solidFill>
              </a:defRPr>
            </a:pPr>
            <a:r>
              <a:t>VISION UNIFIÉE 2026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i="1">
                <a:solidFill>
                  <a:srgbClr val="FFFFFF"/>
                </a:solidFill>
              </a:defRPr>
            </a:pPr>
            <a:r>
              <a:t>La Fusion du Savoir Cabinet et de l'Index Mondial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389120"/>
            <a:ext cx="7315200" cy="54864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FACC15"/>
                </a:solidFill>
              </a:defRPr>
            </a:pPr>
            <a:r>
              <a:t>L'Arsenal des 10,000+ Actes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45920"/>
          </a:xfrm>
        </p:spPr>
        <p:txBody>
          <a:bodyPr wrap="square"/>
          <a:lstStyle/>
          <a:p/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⚡ Index Suprême : 33 pôles économiques indexés (Deep Tech, BioTech, Énergie, Maritime).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⚡ Standards Mondiaux : Accès immédiat aux contrats de niveau international (PPA, Charter Party).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⚡ Bibliothèque de Prestiges : De la constitution de startup à l'acquisition minière.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⚡ Unification v9.1 : Vos propres modèles fusionnés dans l'index de recherche global.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⚡ Élite Opérationnelle : Réduisez le temps de rédaction de 90% sur les dossiers complexes.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64592" cy="585216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20617"/>
                </a:solidFill>
              </a:defRPr>
            </a:pPr>
            <a:r>
              <a:t>Une Couverture Industrielle Sans Précédent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5400">
                <a:solidFill>
                  <a:srgbClr val="EAB308"/>
                </a:solidFill>
              </a:defRPr>
            </a:pPr>
            <a:r>
              <a:t>I. SENTINELLE CRAWLER™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i="1">
                <a:solidFill>
                  <a:srgbClr val="FFFFFF"/>
                </a:solidFill>
              </a:defRPr>
            </a:pPr>
            <a:r>
              <a:t>La Veille Juridique Assistée par IA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389120"/>
            <a:ext cx="7315200" cy="54864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FACC15"/>
                </a:solidFill>
              </a:defRPr>
            </a:pPr>
            <a:r>
              <a:t>Sentinelle v9.0 : Le Pouvoir de l'Anticipation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45920"/>
          </a:xfrm>
        </p:spPr>
        <p:txBody>
          <a:bodyPr wrap="square"/>
          <a:lstStyle/>
          <a:p/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⚡ Crawler Automatisé : Scan quotidien des journaux officiels et flux mondiaux.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⚡ Injection Live : Nouveaux standards contractuels ajoutés sans intervention humaine.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⚡ Analyse Comparative : Détection des changements de clauses types sur le marché.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⚡ Alerte Conformité : Notification immédiate en cas de mise à jour réglementaire.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⚡ Intelligence Collective : Bénéficiez des actifs juridiques les plus pointus au monde.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64592" cy="585216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20617"/>
                </a:solidFill>
              </a:defRPr>
            </a:pPr>
            <a:r>
              <a:t>Ne Suivez Plus le Droit, Devancez-le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5400">
                <a:solidFill>
                  <a:srgbClr val="EAB308"/>
                </a:solidFill>
              </a:defRPr>
            </a:pPr>
            <a:r>
              <a:t>II. IA JURIDIQUE &amp; LEXAI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i="1">
                <a:solidFill>
                  <a:srgbClr val="FFFFFF"/>
                </a:solidFill>
              </a:defRPr>
            </a:pPr>
            <a:r>
              <a:t>L'Avocat Augmenté par l'IA Cognitive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389120"/>
            <a:ext cx="7315200" cy="54864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FACC15"/>
                </a:solidFill>
              </a:defRPr>
            </a:pPr>
            <a:r>
              <a:t>LexAI Predict &amp; Scan Adverse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45920"/>
          </a:xfrm>
        </p:spPr>
        <p:txBody>
          <a:bodyPr wrap="square"/>
          <a:lstStyle/>
          <a:p/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⚡ LexAI Predict : Calcul des chances de succès basé sur l'historique jurisprudentiel.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⚡ Scanner Adverse : Extraction instantanée des points faibles des conclusions adverses.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⚡ Rédaction Augmentée : Complétion intelligente d'actes basée sur votre style.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⚡ Sherlock OSINT : Renseignement d'affaires sur la solvabilité de la partie adverse.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⚡ Nexus Graph : Visualisation des réseaux d'influence et conflits d'intérêts.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64592" cy="585216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20617"/>
                </a:solidFill>
              </a:defRPr>
            </a:pPr>
            <a:r>
              <a:t>Science de la Victoire &amp; Renseignement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5400">
                <a:solidFill>
                  <a:srgbClr val="EAB308"/>
                </a:solidFill>
              </a:defRPr>
            </a:pPr>
            <a:r>
              <a:t>III. GESTION EXPERTE &amp; MÉTIER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i="1">
                <a:solidFill>
                  <a:srgbClr val="FFFFFF"/>
                </a:solidFill>
              </a:defRPr>
            </a:pPr>
            <a:r>
              <a:t>Moteurs de Calcul de Haute Précision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389120"/>
            <a:ext cx="7315200" cy="54864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FACC15"/>
                </a:solidFill>
              </a:defRPr>
            </a:pPr>
            <a:r>
              <a:t>Succession Pro™ &amp; Quantum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45920"/>
          </a:xfrm>
        </p:spPr>
        <p:txBody>
          <a:bodyPr wrap="square"/>
          <a:lstStyle/>
          <a:p/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⚡ Succession Pro : Liquidation successorale complexe (10 méthodes) - Gain de temps 95%.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⚡ Moteur OHADA : Calculs financiers et intérêts légaux automatisés.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⚡ Quantum Simulator : Simulations d'indemnités sociales et foncières ultra-précises.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⚡ Conformité Fiscale : Barèmes CGI et taxes transactionnelles intégrés.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⚡ Rapports d'Expertise : Documents PDF d'élite prêts pour le dépôt au greffe.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64592" cy="585216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20617"/>
                </a:solidFill>
              </a:defRPr>
            </a:pPr>
            <a:r>
              <a:t>La Rigueur des Algorithmes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5400">
                <a:solidFill>
                  <a:srgbClr val="EAB308"/>
                </a:solidFill>
              </a:defRPr>
            </a:pPr>
            <a:r>
              <a:t>IV. FINANCE &amp; RECOUVREMENT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i="1">
                <a:solidFill>
                  <a:srgbClr val="FFFFFF"/>
                </a:solidFill>
              </a:defRPr>
            </a:pPr>
            <a:r>
              <a:t>Ingénierie de Trésorerie &amp; Mobilité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389120"/>
            <a:ext cx="7315200" cy="54864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FACC15"/>
                </a:solidFill>
              </a:defRPr>
            </a:pPr>
            <a:r>
              <a:t>Recovery Engine &amp; SYSCOHADA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45920"/>
          </a:xfrm>
        </p:spPr>
        <p:txBody>
          <a:bodyPr wrap="square"/>
          <a:lstStyle/>
          <a:p/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⚡ Smart Recovery™ : Relances WhatsApp/Email automatisées et scoring risque client.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⚡ Execution Commander : Carte interactive des actifs saisis et pilotage des huissiers.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⚡ Cashflow Oracle : Prédiction des entrées de fonds à 90 jours via IA.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⚡ Snap-to-SYSCOHADA : Intégration comptable instantanée par OCR de factures.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⚡ War Room Tablette : Votre cabinet en poche pour les audiences hors-ligne.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64592" cy="585216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20617"/>
                </a:solidFill>
              </a:defRPr>
            </a:pPr>
            <a:r>
              <a:t>L'Efficacité Transformée en Cash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5400">
                <a:solidFill>
                  <a:srgbClr val="EAB308"/>
                </a:solidFill>
              </a:defRPr>
            </a:pPr>
            <a:r>
              <a:t>V. EXPÉRIENCE CLIENT ELITE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i="1">
                <a:solidFill>
                  <a:srgbClr val="FFFFFF"/>
                </a:solidFill>
              </a:defRPr>
            </a:pPr>
            <a:r>
              <a:t>Le Portail VIP des Grands Mandants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389120"/>
            <a:ext cx="7315200" cy="54864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FACC15"/>
                </a:solidFill>
              </a:defRPr>
            </a:pPr>
            <a:r>
              <a:t>Souveraineté &amp; Transparence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45920"/>
          </a:xfrm>
        </p:spPr>
        <p:txBody>
          <a:bodyPr wrap="square"/>
          <a:lstStyle/>
          <a:p/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⚡ Procedure Tracker : Suivi 'Amazon' de l'avancement pour le client.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⚡ Extranet Sécurisé : Espace VIP pour le dépôt de pièces et suivi financier.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⚡ Centif Guard : Protection anti-blanchiment (AML) intégrée sur les fonds CARPA.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⚡ WhatsApp Pro Bridge : Notifications de procédure sur le canal favori des clients.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⚡ Chiffrement AES-256 : Sécurité de grade militaire pour le secret professionnel.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64592" cy="585216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20617"/>
                </a:solidFill>
              </a:defRPr>
            </a:pPr>
            <a:r>
              <a:t>Le Luxe Logiciel pour vos Clients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6400">
                <a:solidFill>
                  <a:srgbClr val="EAB308"/>
                </a:solidFill>
              </a:defRPr>
            </a:pPr>
            <a:r>
              <a:t>DOMINEZ VOTRE AVENIR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LexPremium v9.1</a:t>
            </a:r>
          </a:p>
          <a:p>
            <a:r>
              <a:t>L'Excellence est une Décision Stratégique.</a:t>
            </a:r>
          </a:p>
          <a:p>
            <a:r>
              <a:t>Démo : avocat-tito.vercel.app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