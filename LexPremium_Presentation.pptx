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 sz="6000">
                <a:solidFill>
                  <a:srgbClr val="FBBF24"/>
                </a:solidFill>
              </a:defRPr>
            </a:pPr>
            <a:r>
              <a:t>LEXPREMIUM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>
                <a:solidFill>
                  <a:srgbClr val="FFFFFF"/>
                </a:solidFill>
              </a:defRPr>
            </a:pPr>
            <a:r>
              <a:t>Solution de Gestion Intégrale &amp; IA Juridique</a:t>
            </a:r>
          </a:p>
          <a:p>
            <a:r>
              <a:t>pour Cabinets d'Exception</a:t>
            </a:r>
          </a:p>
        </p:txBody>
      </p:sp>
      <p:pic>
        <p:nvPicPr>
          <p:cNvPr id="4" name="Picture 3" descr="lexpremium_presentation_hero_17672282270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743200"/>
            <a:ext cx="41148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293B"/>
                </a:solidFill>
              </a:defRPr>
            </a:pPr>
            <a:r>
              <a:t>Le Contexte : Les Défis du Barreau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sz="2000">
                <a:solidFill>
                  <a:srgbClr val="334155"/>
                </a:solidFill>
              </a:defRPr>
            </a:pPr>
            <a:r>
              <a:t>Fragmentation : Trop d'outils, données éparpillées.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Perte de Temps : 30% du temps d'un avocat est administratif.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Sécurité : Risques croissants sur la confidentialité.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Besoin d'IA : L'avantage compétitif indispensable.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293B"/>
                </a:solidFill>
              </a:defRPr>
            </a:pPr>
            <a:r>
              <a:t>La Vision : L'Avocat Augmenté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sz="2000">
                <a:solidFill>
                  <a:srgbClr val="334155"/>
                </a:solidFill>
              </a:defRPr>
            </a:pPr>
            <a:r>
              <a:t>Un cabinet 100% numérique, sécurisé et intelligent.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Centralisation totale des dossiers et de la finance.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L'IA au service de l'expertise juridique.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Libérez-vous des tâches répétitives.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293B"/>
                </a:solidFill>
              </a:defRPr>
            </a:pPr>
            <a:r>
              <a:t>Pilotage Visionnaire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sz="2000">
                <a:solidFill>
                  <a:srgbClr val="334155"/>
                </a:solidFill>
              </a:defRPr>
            </a:pPr>
            <a:r>
              <a:t>Vue 360° : Dossiers, clients et alertes en un coup d'œil.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Indicateurs Financiers : CA et impayés en temps réel.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Priorisation IA : Identification des urgences.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Interface tactile et intuitive.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293B"/>
                </a:solidFill>
              </a:defRPr>
            </a:pPr>
            <a:r>
              <a:t>LexAI : Votre Collaborateur 24h/24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sz="2000">
                <a:solidFill>
                  <a:srgbClr val="334155"/>
                </a:solidFill>
              </a:defRPr>
            </a:pPr>
            <a:r>
              <a:t>Chat Juridique : Questions en langage naturel.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Synthèse Automatique : Résumé de documents volumineux.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Analyse de Pièces : Extraction de données clés (dates, montants).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Assistance à la rédaction permanente.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293B"/>
                </a:solidFill>
              </a:defRPr>
            </a:pPr>
            <a:r>
              <a:t>IA : Stratégie &amp; 'Red Teaming'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sz="2000">
                <a:solidFill>
                  <a:srgbClr val="334155"/>
                </a:solidFill>
              </a:defRPr>
            </a:pPr>
            <a:r>
              <a:t>Simulation d'Attaque : Identifiez les failles de votre argumentaire.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Générateur de Contre-Arguments : Anticipez la partie adverse.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Audit de contrats : Détectez les clauses risquées.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Optimisation de la stratégie de défense.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293B"/>
                </a:solidFill>
              </a:defRPr>
            </a:pPr>
            <a:r>
              <a:t>Recherche &amp; Jurisprudence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sz="2000">
                <a:solidFill>
                  <a:srgbClr val="334155"/>
                </a:solidFill>
              </a:defRPr>
            </a:pPr>
            <a:r>
              <a:t>Accès instantané aux précédents judiciaires.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Moteur de recherche sémantique LexPremium.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Surveillance des évolutions législatives (OHADA).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Bibliothèque de droit comparé.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293B"/>
                </a:solidFill>
              </a:defRPr>
            </a:pPr>
            <a:r>
              <a:t>Le 'War Room' de l'Audience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sz="2000">
                <a:solidFill>
                  <a:srgbClr val="334155"/>
                </a:solidFill>
              </a:defRPr>
            </a:pPr>
            <a:r>
              <a:t>Chronomètre de Plaidoirie intégré.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Mode Palais : Accès rapide aux pièces sur smartphone.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Notes de plaidoirie interactives.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Consultation hors-ligne au tribunal.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293B"/>
                </a:solidFill>
              </a:defRPr>
            </a:pPr>
            <a:r>
              <a:t>Gestion de Dossiers Next-Gen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sz="2000">
                <a:solidFill>
                  <a:srgbClr val="334155"/>
                </a:solidFill>
              </a:defRPr>
            </a:pPr>
            <a:r>
              <a:t>Chronologie interactive de la procédure.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Interconnexion dynamique des parties (Experts, Huissiers).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Suivi des délais légaux par étape.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Versioning complet des documents.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293B"/>
                </a:solidFill>
              </a:defRPr>
            </a:pPr>
            <a:r>
              <a:t>La Bible des Modèles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sz="2000">
                <a:solidFill>
                  <a:srgbClr val="334155"/>
                </a:solidFill>
              </a:defRPr>
            </a:pPr>
            <a:r>
              <a:t>Standardisation de l'excellence rédactionnelle.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Générateur d'actes : Remplissage auto des données clients.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Bibliothèque de clauses sécurisées.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Gain de temps de 70% sur la création d'actes.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293B"/>
                </a:solidFill>
              </a:defRPr>
            </a:pPr>
            <a:r>
              <a:t>Comptabilité &amp; OHADA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sz="2000">
                <a:solidFill>
                  <a:srgbClr val="334155"/>
                </a:solidFill>
              </a:defRPr>
            </a:pPr>
            <a:r>
              <a:t>Comptabilité intégrée (Achats, Ventes, Caisse).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Conformité SYSCOHADA garantie.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Automatisation des écritures comptables.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Historique des journaux inaltérable.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293B"/>
                </a:solidFill>
              </a:defRPr>
            </a:pPr>
            <a:r>
              <a:t>Finance &amp; Pilotage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sz="2000">
                <a:solidFill>
                  <a:srgbClr val="334155"/>
                </a:solidFill>
              </a:defRPr>
            </a:pPr>
            <a:r>
              <a:t>Pilotage stratégique par la donnée.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Gestion des CARPA (Fonds Tiers) sécurisée.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Rapports de rentabilité par collaborateur.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Suivi précis de la marge brute par dossier.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293B"/>
                </a:solidFill>
              </a:defRPr>
            </a:pPr>
            <a:r>
              <a:t>Facturation &amp; Recouvrement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sz="2000">
                <a:solidFill>
                  <a:srgbClr val="334155"/>
                </a:solidFill>
              </a:defRPr>
            </a:pPr>
            <a:r>
              <a:t>Émission de factures professionnelles en 3 clics.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Suivi automatisé des relances pour impayés.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Calculatrice d'intérêts moratoires intégrée.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Gestion des débours et honoraires séparée.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293B"/>
                </a:solidFill>
              </a:defRPr>
            </a:pPr>
            <a:r>
              <a:t>Agenda &amp; Délais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sz="2000">
                <a:solidFill>
                  <a:srgbClr val="334155"/>
                </a:solidFill>
              </a:defRPr>
            </a:pPr>
            <a:r>
              <a:t>Calculateur automatique de délais de procédure.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Synchronisation smartphone globale.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Agenda d'équipe partagé par juridiction.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Alertes forclusion intelligentes.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293B"/>
                </a:solidFill>
              </a:defRPr>
            </a:pPr>
            <a:r>
              <a:t>Dictée Vocale 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sz="2000">
                <a:solidFill>
                  <a:srgbClr val="334155"/>
                </a:solidFill>
              </a:defRPr>
            </a:pPr>
            <a:r>
              <a:t>Dictée haute précision (jargon juridique OHADA).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Transcription instantanée en brouillons d'actes.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Mobilité : Dictez vos notes dès la sortie d'audience.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Reconnaissance multi-locuteurs pour les réunions.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293B"/>
                </a:solidFill>
              </a:defRPr>
            </a:pPr>
            <a:r>
              <a:t>Portail Client (Extranet)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sz="2000">
                <a:solidFill>
                  <a:srgbClr val="334155"/>
                </a:solidFill>
              </a:defRPr>
            </a:pPr>
            <a:r>
              <a:t>Espace sécurisé dédié pour chaque client.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Suivi de l'avancement du dossier 24h/24.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Dépôt de pièces sécurisé (Fin des emails lourds).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Paiement des provisions en ligne.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293B"/>
                </a:solidFill>
              </a:defRPr>
            </a:pPr>
            <a:r>
              <a:t>Cartographie Sémantique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sz="2000">
                <a:solidFill>
                  <a:srgbClr val="334155"/>
                </a:solidFill>
              </a:defRPr>
            </a:pPr>
            <a:r>
              <a:t>Visualisation des liens complexes d'un dossier.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Frise chronologique des faits clés générée par l'IA.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Détection visuelle des incohérences.</a:t>
            </a:r>
          </a:p>
          <a:p>
            <a:pPr>
              <a:defRPr sz="2000">
                <a:solidFill>
                  <a:srgbClr val="334155"/>
                </a:solidFill>
              </a:defRPr>
            </a:pPr>
            <a:r>
              <a:t>Outil d'aide à la décision stratégique.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>
                <a:solidFill>
                  <a:srgbClr val="FBBF24"/>
                </a:solidFill>
              </a:defRPr>
            </a:pPr>
            <a:r>
              <a:t>Choisissez l'Avenir.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>
                <a:solidFill>
                  <a:srgbClr val="FFFFFF"/>
                </a:solidFill>
              </a:defRPr>
            </a:pPr>
            <a:r>
              <a:t>LexPremium - L'IA au service du Droit</a:t>
            </a:r>
          </a:p>
          <a:p>
            <a:r>
              <a:t>Démo : avocat-tito.vercel.app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